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313" r:id="rId2"/>
    <p:sldId id="399" r:id="rId3"/>
    <p:sldId id="509" r:id="rId4"/>
    <p:sldId id="506" r:id="rId5"/>
    <p:sldId id="510" r:id="rId6"/>
    <p:sldId id="507" r:id="rId7"/>
    <p:sldId id="508" r:id="rId8"/>
    <p:sldId id="504" r:id="rId9"/>
    <p:sldId id="511" r:id="rId10"/>
    <p:sldId id="512" r:id="rId11"/>
  </p:sldIdLst>
  <p:sldSz cx="12192000" cy="6858000"/>
  <p:notesSz cx="7559675" cy="10691813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E17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64B3C4-1A99-7FB6-2A8C-B51F717F02CC}" v="43" dt="2024-11-17T15:55:42.739"/>
    <p1510:client id="{8EBDACF3-5F4E-12E9-5F6C-E526F9908181}" v="30" dt="2024-11-16T14:13:52.7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75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0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ias Febles" userId="S::mfebles@neix.com.ar::213f5b6f-f1d2-49f6-bfb5-99dd33b1f055" providerId="AD" clId="Web-{0564B3C4-1A99-7FB6-2A8C-B51F717F02CC}"/>
    <pc:docChg chg="addSld modSld">
      <pc:chgData name="Matias Febles" userId="S::mfebles@neix.com.ar::213f5b6f-f1d2-49f6-bfb5-99dd33b1f055" providerId="AD" clId="Web-{0564B3C4-1A99-7FB6-2A8C-B51F717F02CC}" dt="2024-11-17T15:55:42.739" v="35" actId="20577"/>
      <pc:docMkLst>
        <pc:docMk/>
      </pc:docMkLst>
      <pc:sldChg chg="modSp">
        <pc:chgData name="Matias Febles" userId="S::mfebles@neix.com.ar::213f5b6f-f1d2-49f6-bfb5-99dd33b1f055" providerId="AD" clId="Web-{0564B3C4-1A99-7FB6-2A8C-B51F717F02CC}" dt="2024-11-17T15:55:42.739" v="35" actId="20577"/>
        <pc:sldMkLst>
          <pc:docMk/>
          <pc:sldMk cId="4233732392" sldId="357"/>
        </pc:sldMkLst>
        <pc:spChg chg="mod">
          <ac:chgData name="Matias Febles" userId="S::mfebles@neix.com.ar::213f5b6f-f1d2-49f6-bfb5-99dd33b1f055" providerId="AD" clId="Web-{0564B3C4-1A99-7FB6-2A8C-B51F717F02CC}" dt="2024-11-17T15:55:42.739" v="35" actId="20577"/>
          <ac:spMkLst>
            <pc:docMk/>
            <pc:sldMk cId="4233732392" sldId="357"/>
            <ac:spMk id="8" creationId="{F2893D0A-E2C5-052B-2B20-1F0E2118451E}"/>
          </ac:spMkLst>
        </pc:spChg>
      </pc:sldChg>
      <pc:sldChg chg="modSp">
        <pc:chgData name="Matias Febles" userId="S::mfebles@neix.com.ar::213f5b6f-f1d2-49f6-bfb5-99dd33b1f055" providerId="AD" clId="Web-{0564B3C4-1A99-7FB6-2A8C-B51F717F02CC}" dt="2024-11-17T15:55:23.988" v="33" actId="20577"/>
        <pc:sldMkLst>
          <pc:docMk/>
          <pc:sldMk cId="408882022" sldId="382"/>
        </pc:sldMkLst>
        <pc:spChg chg="mod">
          <ac:chgData name="Matias Febles" userId="S::mfebles@neix.com.ar::213f5b6f-f1d2-49f6-bfb5-99dd33b1f055" providerId="AD" clId="Web-{0564B3C4-1A99-7FB6-2A8C-B51F717F02CC}" dt="2024-11-17T15:55:23.988" v="33" actId="20577"/>
          <ac:spMkLst>
            <pc:docMk/>
            <pc:sldMk cId="408882022" sldId="382"/>
            <ac:spMk id="8" creationId="{267CB3B9-3C59-0F01-40C3-CC39CFCEB1A8}"/>
          </ac:spMkLst>
        </pc:spChg>
      </pc:sldChg>
      <pc:sldChg chg="addSp delSp modSp">
        <pc:chgData name="Matias Febles" userId="S::mfebles@neix.com.ar::213f5b6f-f1d2-49f6-bfb5-99dd33b1f055" providerId="AD" clId="Web-{0564B3C4-1A99-7FB6-2A8C-B51F717F02CC}" dt="2024-11-17T15:52:50.030" v="31" actId="1076"/>
        <pc:sldMkLst>
          <pc:docMk/>
          <pc:sldMk cId="3794412366" sldId="385"/>
        </pc:sldMkLst>
        <pc:picChg chg="add del mod">
          <ac:chgData name="Matias Febles" userId="S::mfebles@neix.com.ar::213f5b6f-f1d2-49f6-bfb5-99dd33b1f055" providerId="AD" clId="Web-{0564B3C4-1A99-7FB6-2A8C-B51F717F02CC}" dt="2024-11-17T15:51:55.794" v="25"/>
          <ac:picMkLst>
            <pc:docMk/>
            <pc:sldMk cId="3794412366" sldId="385"/>
            <ac:picMk id="4" creationId="{24E27620-0CCA-FC05-6EB1-E3D1E80A2254}"/>
          </ac:picMkLst>
        </pc:picChg>
        <pc:picChg chg="del">
          <ac:chgData name="Matias Febles" userId="S::mfebles@neix.com.ar::213f5b6f-f1d2-49f6-bfb5-99dd33b1f055" providerId="AD" clId="Web-{0564B3C4-1A99-7FB6-2A8C-B51F717F02CC}" dt="2024-11-17T15:50:25.351" v="19"/>
          <ac:picMkLst>
            <pc:docMk/>
            <pc:sldMk cId="3794412366" sldId="385"/>
            <ac:picMk id="7" creationId="{C23F6369-C80C-8B71-7E5E-F12D740E8D91}"/>
          </ac:picMkLst>
        </pc:picChg>
        <pc:picChg chg="add del">
          <ac:chgData name="Matias Febles" userId="S::mfebles@neix.com.ar::213f5b6f-f1d2-49f6-bfb5-99dd33b1f055" providerId="AD" clId="Web-{0564B3C4-1A99-7FB6-2A8C-B51F717F02CC}" dt="2024-11-17T15:52:48.514" v="30"/>
          <ac:picMkLst>
            <pc:docMk/>
            <pc:sldMk cId="3794412366" sldId="385"/>
            <ac:picMk id="9" creationId="{9F51E5CE-3EFE-0140-60E6-EAE857061B63}"/>
          </ac:picMkLst>
        </pc:picChg>
        <pc:picChg chg="add mod">
          <ac:chgData name="Matias Febles" userId="S::mfebles@neix.com.ar::213f5b6f-f1d2-49f6-bfb5-99dd33b1f055" providerId="AD" clId="Web-{0564B3C4-1A99-7FB6-2A8C-B51F717F02CC}" dt="2024-11-17T15:52:50.030" v="31" actId="1076"/>
          <ac:picMkLst>
            <pc:docMk/>
            <pc:sldMk cId="3794412366" sldId="385"/>
            <ac:picMk id="10" creationId="{348E5564-22F3-E30D-435D-0873E5E99ADA}"/>
          </ac:picMkLst>
        </pc:picChg>
      </pc:sldChg>
      <pc:sldChg chg="addSp delSp modSp add replId">
        <pc:chgData name="Matias Febles" userId="S::mfebles@neix.com.ar::213f5b6f-f1d2-49f6-bfb5-99dd33b1f055" providerId="AD" clId="Web-{0564B3C4-1A99-7FB6-2A8C-B51F717F02CC}" dt="2024-11-17T15:49:54.584" v="18"/>
        <pc:sldMkLst>
          <pc:docMk/>
          <pc:sldMk cId="1831174665" sldId="386"/>
        </pc:sldMkLst>
        <pc:picChg chg="add del mod">
          <ac:chgData name="Matias Febles" userId="S::mfebles@neix.com.ar::213f5b6f-f1d2-49f6-bfb5-99dd33b1f055" providerId="AD" clId="Web-{0564B3C4-1A99-7FB6-2A8C-B51F717F02CC}" dt="2024-11-17T15:48:13.112" v="4"/>
          <ac:picMkLst>
            <pc:docMk/>
            <pc:sldMk cId="1831174665" sldId="386"/>
            <ac:picMk id="4" creationId="{1D075F8B-EF0A-3723-7EE4-49D954B1D9DD}"/>
          </ac:picMkLst>
        </pc:picChg>
        <pc:picChg chg="del">
          <ac:chgData name="Matias Febles" userId="S::mfebles@neix.com.ar::213f5b6f-f1d2-49f6-bfb5-99dd33b1f055" providerId="AD" clId="Web-{0564B3C4-1A99-7FB6-2A8C-B51F717F02CC}" dt="2024-11-17T15:49:39.224" v="15"/>
          <ac:picMkLst>
            <pc:docMk/>
            <pc:sldMk cId="1831174665" sldId="386"/>
            <ac:picMk id="7" creationId="{7DA1CE46-375B-740F-B08B-E01795CB97E8}"/>
          </ac:picMkLst>
        </pc:picChg>
        <pc:picChg chg="add del mod">
          <ac:chgData name="Matias Febles" userId="S::mfebles@neix.com.ar::213f5b6f-f1d2-49f6-bfb5-99dd33b1f055" providerId="AD" clId="Web-{0564B3C4-1A99-7FB6-2A8C-B51F717F02CC}" dt="2024-11-17T15:49:43.287" v="16" actId="1076"/>
          <ac:picMkLst>
            <pc:docMk/>
            <pc:sldMk cId="1831174665" sldId="386"/>
            <ac:picMk id="8" creationId="{C4438452-AB73-3DDA-C34F-0345F92398FF}"/>
          </ac:picMkLst>
        </pc:picChg>
        <pc:picChg chg="add del">
          <ac:chgData name="Matias Febles" userId="S::mfebles@neix.com.ar::213f5b6f-f1d2-49f6-bfb5-99dd33b1f055" providerId="AD" clId="Web-{0564B3C4-1A99-7FB6-2A8C-B51F717F02CC}" dt="2024-11-17T15:49:54.584" v="18"/>
          <ac:picMkLst>
            <pc:docMk/>
            <pc:sldMk cId="1831174665" sldId="386"/>
            <ac:picMk id="10" creationId="{418FBD44-4B97-A688-D076-E672923A4215}"/>
          </ac:picMkLst>
        </pc:picChg>
      </pc:sldChg>
    </pc:docChg>
  </pc:docChgLst>
  <pc:docChgLst>
    <pc:chgData name="Matias Febles" userId="S::mfebles@neix.com.ar::213f5b6f-f1d2-49f6-bfb5-99dd33b1f055" providerId="AD" clId="Web-{8EBDACF3-5F4E-12E9-5F6C-E526F9908181}"/>
    <pc:docChg chg="modSld">
      <pc:chgData name="Matias Febles" userId="S::mfebles@neix.com.ar::213f5b6f-f1d2-49f6-bfb5-99dd33b1f055" providerId="AD" clId="Web-{8EBDACF3-5F4E-12E9-5F6C-E526F9908181}" dt="2024-11-16T14:13:51.050" v="17" actId="20577"/>
      <pc:docMkLst>
        <pc:docMk/>
      </pc:docMkLst>
      <pc:sldChg chg="modSp">
        <pc:chgData name="Matias Febles" userId="S::mfebles@neix.com.ar::213f5b6f-f1d2-49f6-bfb5-99dd33b1f055" providerId="AD" clId="Web-{8EBDACF3-5F4E-12E9-5F6C-E526F9908181}" dt="2024-11-16T14:01:24.993" v="4" actId="20577"/>
        <pc:sldMkLst>
          <pc:docMk/>
          <pc:sldMk cId="998176096" sldId="333"/>
        </pc:sldMkLst>
        <pc:spChg chg="mod">
          <ac:chgData name="Matias Febles" userId="S::mfebles@neix.com.ar::213f5b6f-f1d2-49f6-bfb5-99dd33b1f055" providerId="AD" clId="Web-{8EBDACF3-5F4E-12E9-5F6C-E526F9908181}" dt="2024-11-16T14:01:24.993" v="4" actId="20577"/>
          <ac:spMkLst>
            <pc:docMk/>
            <pc:sldMk cId="998176096" sldId="333"/>
            <ac:spMk id="9" creationId="{F0DDACE0-182A-23C8-6F81-C7F859C36FF6}"/>
          </ac:spMkLst>
        </pc:spChg>
      </pc:sldChg>
      <pc:sldChg chg="modSp">
        <pc:chgData name="Matias Febles" userId="S::mfebles@neix.com.ar::213f5b6f-f1d2-49f6-bfb5-99dd33b1f055" providerId="AD" clId="Web-{8EBDACF3-5F4E-12E9-5F6C-E526F9908181}" dt="2024-11-16T14:13:34.425" v="11"/>
        <pc:sldMkLst>
          <pc:docMk/>
          <pc:sldMk cId="1420447428" sldId="341"/>
        </pc:sldMkLst>
        <pc:spChg chg="mod">
          <ac:chgData name="Matias Febles" userId="S::mfebles@neix.com.ar::213f5b6f-f1d2-49f6-bfb5-99dd33b1f055" providerId="AD" clId="Web-{8EBDACF3-5F4E-12E9-5F6C-E526F9908181}" dt="2024-11-16T14:13:34.425" v="11"/>
          <ac:spMkLst>
            <pc:docMk/>
            <pc:sldMk cId="1420447428" sldId="341"/>
            <ac:spMk id="11" creationId="{9941512B-B36E-E3C3-65E3-D37B1BB3D2BE}"/>
          </ac:spMkLst>
        </pc:spChg>
      </pc:sldChg>
      <pc:sldChg chg="modSp">
        <pc:chgData name="Matias Febles" userId="S::mfebles@neix.com.ar::213f5b6f-f1d2-49f6-bfb5-99dd33b1f055" providerId="AD" clId="Web-{8EBDACF3-5F4E-12E9-5F6C-E526F9908181}" dt="2024-11-16T14:13:51.050" v="17" actId="20577"/>
        <pc:sldMkLst>
          <pc:docMk/>
          <pc:sldMk cId="2225794156" sldId="362"/>
        </pc:sldMkLst>
        <pc:spChg chg="mod">
          <ac:chgData name="Matias Febles" userId="S::mfebles@neix.com.ar::213f5b6f-f1d2-49f6-bfb5-99dd33b1f055" providerId="AD" clId="Web-{8EBDACF3-5F4E-12E9-5F6C-E526F9908181}" dt="2024-11-16T14:13:51.050" v="17" actId="20577"/>
          <ac:spMkLst>
            <pc:docMk/>
            <pc:sldMk cId="2225794156" sldId="362"/>
            <ac:spMk id="7" creationId="{BD79ADB9-72D2-9567-740E-949EF9B85F8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829367-2BA7-4BD1-8E98-1CEF1AA24E0F}" type="datetimeFigureOut">
              <a:rPr lang="es-AR" smtClean="0"/>
              <a:t>27/11/2025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A2E0C5-4B7F-4F02-894F-CF5CD1371C2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610856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AE848A6B-6022-465F-B72D-57257B913EAB}" type="slidenum">
              <a:t>‹Nº›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s-AR" sz="4400" b="0" strike="noStrike" spc="-1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s-AR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77A8B659-6472-45F6-9085-DFF9D12C5433}" type="slidenum">
              <a:t>‹Nº›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s-AR" sz="4400" b="0" strike="noStrike" spc="-1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91C0D61D-E4B0-46B4-91D1-C2BE90732E61}" type="slidenum"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s-AR" sz="4400" b="0" strike="noStrike" spc="-1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6A076A0F-9DCC-44C3-BAA0-BFFE7AAED8A6}" type="slidenum"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s-AR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09C2F81C-D98B-4118-BCB4-25F9ACF4A8B5}" type="slidenum"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s-AR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65688A8E-0E1E-4A2C-8843-D4CCF27BECFF}" type="slidenum"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s-AR" sz="4400" b="0" strike="noStrike" spc="-1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4057A870-95C1-4A9B-AB95-C2D8AF1C0443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s-AR" sz="4400" b="0" strike="noStrike" spc="-1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CE174A49-ECD3-4562-8DFC-B5B7BF20B430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s-AR" sz="4400" b="0" strike="noStrike" spc="-1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B5E66DCA-E276-4C3A-A68C-63161A41930D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s-AR" sz="4400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D4A5189E-7208-41F4-B0A1-165FC2FE8D94}" type="slidenum"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s-AR" sz="4400" b="0" strike="noStrike" spc="-1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4878056B-E66F-47BB-84E5-0472572FA4E2}" type="slidenum">
              <a:t>‹Nº›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s-AR" sz="4400" b="0" strike="noStrike" spc="-1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B146C3C3-30EB-462C-B145-F9C7C44FCE3D}" type="slidenum">
              <a:t>‹Nº›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76CCD1-7915-6C01-7A11-2E1F39E47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97CBC72-6A99-0DBD-DAB8-4B55CDDBF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E24786F-A615-BA3A-F194-6AEC264D4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7B39B-8F64-4D88-908D-C2897BA1D346}" type="datetimeFigureOut">
              <a:rPr lang="es-AR" smtClean="0"/>
              <a:t>27/11/2025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8B9F0A6-4E3D-6B66-019C-3919352C6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3ED2B8-38D5-8945-EB79-FF97C0E83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76700-9037-4D7D-9E19-25C85858713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87133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algn="ctr">
              <a:lnSpc>
                <a:spcPct val="100000"/>
              </a:lnSpc>
              <a:buNone/>
              <a:defRPr lang="es-AR" sz="1400" b="0" strike="noStrike" spc="-1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lang="es-AR" sz="1400" b="0" strike="noStrike" spc="-1">
                <a:latin typeface="Times New Roman"/>
              </a:rPr>
              <a:t>&lt;pie de página&gt;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algn="r">
              <a:lnSpc>
                <a:spcPct val="100000"/>
              </a:lnSpc>
              <a:buNone/>
              <a:defRPr lang="en-AR" sz="1200" b="0" strike="noStrike" spc="-1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2AEBCC5-B486-42A8-B3E4-3D14C0728EFF}" type="slidenum">
              <a:rPr lang="en-AR" sz="1200" b="0" strike="noStrike" spc="-1">
                <a:solidFill>
                  <a:srgbClr val="8B8B8B"/>
                </a:solidFill>
                <a:latin typeface="Calibri"/>
              </a:rPr>
              <a:t>‹Nº›</a:t>
            </a:fld>
            <a:endParaRPr lang="es-AR" sz="1200" b="0" strike="noStrike" spc="-1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>
              <a:defRPr lang="es-AR" sz="1400" b="0" strike="noStrike" spc="-1">
                <a:latin typeface="Times New Roman"/>
              </a:defRPr>
            </a:lvl1pPr>
          </a:lstStyle>
          <a:p>
            <a:r>
              <a:rPr lang="es-AR" sz="1400" b="0" strike="noStrike" spc="-1">
                <a:latin typeface="Times New Roman"/>
              </a:rPr>
              <a:t>&lt;fecha/hora&gt;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s-AR" sz="4400" b="0" strike="noStrike" spc="-1">
                <a:latin typeface="Arial"/>
              </a:rPr>
              <a:t>Pulse para editar el formato del texto de título</a:t>
            </a: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3200" b="0" strike="noStrike" spc="-1">
                <a:latin typeface="Arial"/>
              </a:rPr>
              <a:t>Pulse para editar el formato de texto del esquema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AR" sz="2800" b="0" strike="noStrike" spc="-1">
                <a:latin typeface="Arial"/>
              </a:rPr>
              <a:t>Segundo nivel del esquema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400" b="0" strike="noStrike" spc="-1">
                <a:latin typeface="Arial"/>
              </a:rPr>
              <a:t>Tercer nivel del esquema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AR" sz="2000" b="0" strike="noStrike" spc="-1">
                <a:latin typeface="Arial"/>
              </a:rPr>
              <a:t>Cuarto nivel del esquema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strike="noStrike" spc="-1">
                <a:latin typeface="Arial"/>
              </a:rPr>
              <a:t>Quinto nivel del esquema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strike="noStrike" spc="-1">
                <a:latin typeface="Arial"/>
              </a:rPr>
              <a:t>Sexto nivel del esquema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strike="noStrike" spc="-1">
                <a:latin typeface="Arial"/>
              </a:rPr>
              <a:t>Séptimo nivel del esquema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3.xml"/><Relationship Id="rId5" Type="http://schemas.openxmlformats.org/officeDocument/2006/relationships/hyperlink" Target="https://cdn.prod.website-files.com/6697a441a50c6b926e1972e0/68f280d46994c4a5df006b74_BYMA-Derechos-Mercado-sobre-Operaciones-al-2025-10-16.pdf" TargetMode="Externa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EFF79-CCF9-A367-8856-50592BBB8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upo 9">
            <a:extLst>
              <a:ext uri="{FF2B5EF4-FFF2-40B4-BE49-F238E27FC236}">
                <a16:creationId xmlns:a16="http://schemas.microsoft.com/office/drawing/2014/main" id="{15835FE6-4E8A-9794-8786-1C25FBAC731F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0" y="892"/>
            <a:ext cx="12192000" cy="6856215"/>
            <a:chOff x="0" y="892"/>
            <a:chExt cx="12192000" cy="6856215"/>
          </a:xfrm>
        </p:grpSpPr>
        <p:pic>
          <p:nvPicPr>
            <p:cNvPr id="8" name="Imagen 7" descr="Forma&#10;&#10;Descripción generada automáticamente con confianza baja">
              <a:extLst>
                <a:ext uri="{FF2B5EF4-FFF2-40B4-BE49-F238E27FC236}">
                  <a16:creationId xmlns:a16="http://schemas.microsoft.com/office/drawing/2014/main" id="{1D48D73D-39DB-1F39-B12F-84487077F755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892"/>
              <a:ext cx="12192000" cy="6856215"/>
            </a:xfrm>
            <a:prstGeom prst="rect">
              <a:avLst/>
            </a:prstGeom>
          </p:spPr>
        </p:pic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2B82BB8A-1A48-F2F1-E341-2FCBE52A17C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529209" y="2840477"/>
              <a:ext cx="3151761" cy="1332689"/>
            </a:xfrm>
            <a:prstGeom prst="rect">
              <a:avLst/>
            </a:prstGeom>
            <a:solidFill>
              <a:srgbClr val="3A3A3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</p:grpSp>
      <p:sp>
        <p:nvSpPr>
          <p:cNvPr id="12" name="CuadroTexto 11">
            <a:extLst>
              <a:ext uri="{FF2B5EF4-FFF2-40B4-BE49-F238E27FC236}">
                <a16:creationId xmlns:a16="http://schemas.microsoft.com/office/drawing/2014/main" id="{6A18A845-7A59-2CBA-0306-CAE13709A930}"/>
              </a:ext>
            </a:extLst>
          </p:cNvPr>
          <p:cNvSpPr txBox="1"/>
          <p:nvPr/>
        </p:nvSpPr>
        <p:spPr>
          <a:xfrm>
            <a:off x="1502404" y="5181377"/>
            <a:ext cx="47033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>
                <a:solidFill>
                  <a:schemeClr val="bg1"/>
                </a:solidFill>
                <a:latin typeface="Avenir Next LT Pro Demi" panose="020B0704020202020204" pitchFamily="34" charset="0"/>
              </a:rPr>
              <a:t>Trabajo Practico Final</a:t>
            </a:r>
            <a:endParaRPr lang="es-AR" sz="3600" b="1" dirty="0">
              <a:solidFill>
                <a:schemeClr val="bg1"/>
              </a:solidFill>
              <a:latin typeface="Avenir Next LT Pro Demi" panose="020B07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9201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FD4AA-BF7F-C93A-0E72-8D13C8697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magen que contiene Forma&#10;&#10;Descripción generada automáticamente">
            <a:extLst>
              <a:ext uri="{FF2B5EF4-FFF2-40B4-BE49-F238E27FC236}">
                <a16:creationId xmlns:a16="http://schemas.microsoft.com/office/drawing/2014/main" id="{55FAA3EF-95AD-5F02-53C0-5B8E466AB89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4DA8D77E-A3BA-6AEE-F0A9-252500AF1393}"/>
              </a:ext>
            </a:extLst>
          </p:cNvPr>
          <p:cNvSpPr txBox="1"/>
          <p:nvPr/>
        </p:nvSpPr>
        <p:spPr>
          <a:xfrm>
            <a:off x="622571" y="652550"/>
            <a:ext cx="51751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ES" sz="2800" dirty="0">
              <a:solidFill>
                <a:schemeClr val="tx1">
                  <a:lumMod val="65000"/>
                  <a:lumOff val="35000"/>
                </a:schemeClr>
              </a:solidFill>
              <a:latin typeface="Avenir Next LT Pro Demi" panose="020B0704020202020204" pitchFamily="34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0D9970F-183E-D7B8-512B-C6D54A701BC6}"/>
              </a:ext>
            </a:extLst>
          </p:cNvPr>
          <p:cNvSpPr txBox="1"/>
          <p:nvPr/>
        </p:nvSpPr>
        <p:spPr>
          <a:xfrm>
            <a:off x="648510" y="649304"/>
            <a:ext cx="61089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venir Next LT Pro Demi" panose="020B0704020202020204" pitchFamily="34" charset="0"/>
              </a:rPr>
              <a:t>Trabajo Practico Final - Objetivo</a:t>
            </a:r>
          </a:p>
        </p:txBody>
      </p:sp>
      <p:cxnSp>
        <p:nvCxnSpPr>
          <p:cNvPr id="3" name="Google Shape;72;p14">
            <a:extLst>
              <a:ext uri="{FF2B5EF4-FFF2-40B4-BE49-F238E27FC236}">
                <a16:creationId xmlns:a16="http://schemas.microsoft.com/office/drawing/2014/main" id="{A1A0C43F-10C0-8F4F-D125-3589BC542C75}"/>
              </a:ext>
            </a:extLst>
          </p:cNvPr>
          <p:cNvCxnSpPr/>
          <p:nvPr/>
        </p:nvCxnSpPr>
        <p:spPr>
          <a:xfrm>
            <a:off x="744865" y="1293030"/>
            <a:ext cx="514000" cy="0"/>
          </a:xfrm>
          <a:prstGeom prst="straightConnector1">
            <a:avLst/>
          </a:prstGeom>
          <a:noFill/>
          <a:ln w="19050" cap="flat" cmpd="sng">
            <a:solidFill>
              <a:srgbClr val="CC132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99D37BC7-C869-6CB7-CE2C-A3D26CAF1846}"/>
              </a:ext>
            </a:extLst>
          </p:cNvPr>
          <p:cNvSpPr txBox="1"/>
          <p:nvPr/>
        </p:nvSpPr>
        <p:spPr>
          <a:xfrm>
            <a:off x="744865" y="1828320"/>
            <a:ext cx="5527919" cy="45545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s-ES" sz="1500" dirty="0">
                <a:latin typeface="Avenir Next LT Pro" panose="020B0504020202020204" pitchFamily="34" charset="0"/>
              </a:rPr>
              <a:t>Que se busca: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500" dirty="0">
                <a:latin typeface="Avenir Next LT Pro" panose="020B0504020202020204" pitchFamily="34" charset="0"/>
              </a:rPr>
              <a:t>Implementar conceptos vistos en clase.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500" dirty="0">
                <a:latin typeface="Avenir Next LT Pro" panose="020B0504020202020204" pitchFamily="34" charset="0"/>
              </a:rPr>
              <a:t>Hacer un algoritmo.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500" dirty="0">
                <a:latin typeface="Avenir Next LT Pro" panose="020B0504020202020204" pitchFamily="34" charset="0"/>
              </a:rPr>
              <a:t>Estrategia financiera.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500" dirty="0">
                <a:latin typeface="Avenir Next LT Pro" panose="020B0504020202020204" pitchFamily="34" charset="0"/>
              </a:rPr>
              <a:t>Interactuar con </a:t>
            </a:r>
            <a:r>
              <a:rPr lang="es-ES" sz="1500" dirty="0" err="1">
                <a:latin typeface="Avenir Next LT Pro" panose="020B0504020202020204" pitchFamily="34" charset="0"/>
              </a:rPr>
              <a:t>market</a:t>
            </a:r>
            <a:r>
              <a:rPr lang="es-ES" sz="1500" dirty="0">
                <a:latin typeface="Avenir Next LT Pro" panose="020B0504020202020204" pitchFamily="34" charset="0"/>
              </a:rPr>
              <a:t> data real.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500" dirty="0">
                <a:latin typeface="Avenir Next LT Pro" panose="020B0504020202020204" pitchFamily="34" charset="0"/>
              </a:rPr>
              <a:t>Ser consciente de la latencia del código.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500" dirty="0">
                <a:latin typeface="Avenir Next LT Pro" panose="020B0504020202020204" pitchFamily="34" charset="0"/>
              </a:rPr>
              <a:t>Pensamiento critico y comentarios.</a:t>
            </a:r>
          </a:p>
          <a:p>
            <a:pPr>
              <a:lnSpc>
                <a:spcPct val="150000"/>
              </a:lnSpc>
              <a:buNone/>
            </a:pPr>
            <a:endParaRPr lang="es-ES" sz="1500" dirty="0">
              <a:latin typeface="Avenir Next LT Pro" panose="020B05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s-ES" sz="1500" dirty="0">
                <a:latin typeface="Avenir Next LT Pro" panose="020B0504020202020204" pitchFamily="34" charset="0"/>
              </a:rPr>
              <a:t>Que </a:t>
            </a:r>
            <a:r>
              <a:rPr lang="es-ES" sz="1500" b="1" dirty="0">
                <a:latin typeface="Avenir Next LT Pro" panose="020B0504020202020204" pitchFamily="34" charset="0"/>
              </a:rPr>
              <a:t>NO</a:t>
            </a:r>
            <a:r>
              <a:rPr lang="es-ES" sz="1500" dirty="0">
                <a:latin typeface="Avenir Next LT Pro" panose="020B0504020202020204" pitchFamily="34" charset="0"/>
              </a:rPr>
              <a:t> se busca: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500" dirty="0">
                <a:latin typeface="Avenir Next LT Pro" panose="020B0504020202020204" pitchFamily="34" charset="0"/>
              </a:rPr>
              <a:t>El código mas eficiente.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500" dirty="0">
                <a:latin typeface="Avenir Next LT Pro" panose="020B0504020202020204" pitchFamily="34" charset="0"/>
              </a:rPr>
              <a:t>La mejor estrategia financiera.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500" dirty="0">
                <a:latin typeface="Avenir Next LT Pro" panose="020B0504020202020204" pitchFamily="34" charset="0"/>
              </a:rPr>
              <a:t>La latencia mas baja.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500" dirty="0" err="1">
                <a:latin typeface="Avenir Next LT Pro" panose="020B0504020202020204" pitchFamily="34" charset="0"/>
              </a:rPr>
              <a:t>PnL</a:t>
            </a:r>
            <a:r>
              <a:rPr lang="es-ES" sz="1500" dirty="0">
                <a:latin typeface="Avenir Next LT Pro" panose="020B0504020202020204" pitchFamily="34" charset="0"/>
              </a:rPr>
              <a:t> objetivo.</a:t>
            </a:r>
          </a:p>
        </p:txBody>
      </p:sp>
    </p:spTree>
    <p:extLst>
      <p:ext uri="{BB962C8B-B14F-4D97-AF65-F5344CB8AC3E}">
        <p14:creationId xmlns:p14="http://schemas.microsoft.com/office/powerpoint/2010/main" val="20830397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07B78-0CC5-DF7B-52AD-AC53F3E45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magen que contiene Forma&#10;&#10;Descripción generada automáticamente">
            <a:extLst>
              <a:ext uri="{FF2B5EF4-FFF2-40B4-BE49-F238E27FC236}">
                <a16:creationId xmlns:a16="http://schemas.microsoft.com/office/drawing/2014/main" id="{49D08980-B06F-F46E-39B0-A1A2D5B702A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73DB5D14-1A52-4237-887D-B134E6DB29B8}"/>
              </a:ext>
            </a:extLst>
          </p:cNvPr>
          <p:cNvSpPr txBox="1"/>
          <p:nvPr/>
        </p:nvSpPr>
        <p:spPr>
          <a:xfrm>
            <a:off x="622571" y="652550"/>
            <a:ext cx="51751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ES" sz="2800" dirty="0">
              <a:solidFill>
                <a:schemeClr val="tx1">
                  <a:lumMod val="65000"/>
                  <a:lumOff val="35000"/>
                </a:schemeClr>
              </a:solidFill>
              <a:latin typeface="Avenir Next LT Pro Demi" panose="020B0704020202020204" pitchFamily="34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E129564C-B1D3-5A24-86C1-50B7F164BF6B}"/>
              </a:ext>
            </a:extLst>
          </p:cNvPr>
          <p:cNvSpPr txBox="1"/>
          <p:nvPr/>
        </p:nvSpPr>
        <p:spPr>
          <a:xfrm>
            <a:off x="648510" y="649304"/>
            <a:ext cx="74987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venir Next LT Pro Demi" panose="020B0704020202020204" pitchFamily="34" charset="0"/>
              </a:rPr>
              <a:t>Trabajo Practico Final - Normas generales</a:t>
            </a:r>
          </a:p>
        </p:txBody>
      </p:sp>
      <p:cxnSp>
        <p:nvCxnSpPr>
          <p:cNvPr id="3" name="Google Shape;72;p14">
            <a:extLst>
              <a:ext uri="{FF2B5EF4-FFF2-40B4-BE49-F238E27FC236}">
                <a16:creationId xmlns:a16="http://schemas.microsoft.com/office/drawing/2014/main" id="{1EB7A697-9384-1CF8-A2EC-85A66A2D2091}"/>
              </a:ext>
            </a:extLst>
          </p:cNvPr>
          <p:cNvCxnSpPr/>
          <p:nvPr/>
        </p:nvCxnSpPr>
        <p:spPr>
          <a:xfrm>
            <a:off x="744865" y="1293030"/>
            <a:ext cx="514000" cy="0"/>
          </a:xfrm>
          <a:prstGeom prst="straightConnector1">
            <a:avLst/>
          </a:prstGeom>
          <a:noFill/>
          <a:ln w="19050" cap="flat" cmpd="sng">
            <a:solidFill>
              <a:srgbClr val="CC132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C1A6789C-8D9C-79E5-75A1-77544577B1C5}"/>
              </a:ext>
            </a:extLst>
          </p:cNvPr>
          <p:cNvSpPr txBox="1"/>
          <p:nvPr/>
        </p:nvSpPr>
        <p:spPr>
          <a:xfrm>
            <a:off x="744865" y="2122023"/>
            <a:ext cx="8216255" cy="38620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s-ES" sz="1500" b="1" dirty="0">
                <a:latin typeface="Avenir Next LT Pro" panose="020B0504020202020204" pitchFamily="34" charset="0"/>
              </a:rPr>
              <a:t>Normas generales</a:t>
            </a:r>
          </a:p>
          <a:p>
            <a:pPr>
              <a:lnSpc>
                <a:spcPct val="150000"/>
              </a:lnSpc>
              <a:buNone/>
            </a:pPr>
            <a:endParaRPr lang="es-ES" sz="1500" dirty="0">
              <a:latin typeface="Avenir Next LT Pro" panose="020B05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500" dirty="0">
                <a:latin typeface="Avenir Next LT Pro" panose="020B0504020202020204" pitchFamily="34" charset="0"/>
              </a:rPr>
              <a:t>Lenguaje de programación: Python.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500" dirty="0">
                <a:latin typeface="Avenir Next LT Pro" panose="020B0504020202020204" pitchFamily="34" charset="0"/>
              </a:rPr>
              <a:t>Grupos: Máximo 3 alumnos.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500" dirty="0">
                <a:latin typeface="Avenir Next LT Pro" panose="020B0504020202020204" pitchFamily="34" charset="0"/>
              </a:rPr>
              <a:t>Fecha de entrega: </a:t>
            </a:r>
            <a:r>
              <a:rPr lang="es-ES" sz="1500" b="1" dirty="0">
                <a:solidFill>
                  <a:srgbClr val="FF0000"/>
                </a:solidFill>
                <a:latin typeface="Avenir Next LT Pro" panose="020B0504020202020204" pitchFamily="34" charset="0"/>
              </a:rPr>
              <a:t>20/12/2025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500" dirty="0">
                <a:latin typeface="Avenir Next LT Pro" panose="020B0504020202020204" pitchFamily="34" charset="0"/>
              </a:rPr>
              <a:t>2 opciones de estrategias.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500" dirty="0">
                <a:latin typeface="Avenir Next LT Pro" panose="020B0504020202020204" pitchFamily="34" charset="0"/>
              </a:rPr>
              <a:t>Libre uso de IA.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500" dirty="0">
                <a:latin typeface="Avenir Next LT Pro" panose="020B0504020202020204" pitchFamily="34" charset="0"/>
              </a:rPr>
              <a:t>No hay restricciones normativas. O sea, se puede pesificar y dolarizar sin problemas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500" dirty="0">
                <a:latin typeface="Avenir Next LT Pro" panose="020B0504020202020204" pitchFamily="34" charset="0"/>
              </a:rPr>
              <a:t>Entrega: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lphaUcPeriod"/>
            </a:pPr>
            <a:r>
              <a:rPr lang="es-ES" sz="1500" dirty="0">
                <a:latin typeface="Avenir Next LT Pro" panose="020B0504020202020204" pitchFamily="34" charset="0"/>
              </a:rPr>
              <a:t>Código con nombre en los comentarios iniciales.</a:t>
            </a:r>
            <a:endParaRPr lang="es-AR" sz="1500" dirty="0">
              <a:latin typeface="Avenir Next LT Pro" panose="020B0504020202020204" pitchFamily="34" charset="0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lphaUcPeriod"/>
            </a:pPr>
            <a:r>
              <a:rPr lang="es-AR" sz="1500" dirty="0">
                <a:latin typeface="Avenir Next LT Pro" panose="020B0504020202020204" pitchFamily="34" charset="0"/>
              </a:rPr>
              <a:t>Informe final en PDF con métricas, </a:t>
            </a:r>
            <a:r>
              <a:rPr lang="es-AR" sz="1500" dirty="0" err="1">
                <a:latin typeface="Avenir Next LT Pro" panose="020B0504020202020204" pitchFamily="34" charset="0"/>
              </a:rPr>
              <a:t>graficos</a:t>
            </a:r>
            <a:r>
              <a:rPr lang="es-AR" sz="1500" dirty="0">
                <a:latin typeface="Avenir Next LT Pro" panose="020B0504020202020204" pitchFamily="34" charset="0"/>
              </a:rPr>
              <a:t> y comentarios.</a:t>
            </a:r>
            <a:endParaRPr lang="es-ES" sz="1500" dirty="0">
              <a:latin typeface="Avenir Next LT Pro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88145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7473D-C135-D5E2-47B8-C94736155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magen que contiene Forma&#10;&#10;Descripción generada automáticamente">
            <a:extLst>
              <a:ext uri="{FF2B5EF4-FFF2-40B4-BE49-F238E27FC236}">
                <a16:creationId xmlns:a16="http://schemas.microsoft.com/office/drawing/2014/main" id="{6DF19579-45C2-D9D9-A393-34C7DBF15CB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BC3D43A0-0F8D-8332-1C23-DBF522A2AA01}"/>
              </a:ext>
            </a:extLst>
          </p:cNvPr>
          <p:cNvSpPr txBox="1"/>
          <p:nvPr/>
        </p:nvSpPr>
        <p:spPr>
          <a:xfrm>
            <a:off x="622571" y="652550"/>
            <a:ext cx="51751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ES" sz="2800" dirty="0">
              <a:solidFill>
                <a:schemeClr val="tx1">
                  <a:lumMod val="65000"/>
                  <a:lumOff val="35000"/>
                </a:schemeClr>
              </a:solidFill>
              <a:latin typeface="Avenir Next LT Pro Demi" panose="020B0704020202020204" pitchFamily="34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715101E-EA1D-B516-DC4B-14A5A52E8C84}"/>
              </a:ext>
            </a:extLst>
          </p:cNvPr>
          <p:cNvSpPr txBox="1"/>
          <p:nvPr/>
        </p:nvSpPr>
        <p:spPr>
          <a:xfrm>
            <a:off x="648510" y="649304"/>
            <a:ext cx="83400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venir Next LT Pro Demi" panose="020B0704020202020204" pitchFamily="34" charset="0"/>
              </a:rPr>
              <a:t>Trabajo Practico Final – ¿Qué se proporciona?</a:t>
            </a:r>
          </a:p>
        </p:txBody>
      </p:sp>
      <p:cxnSp>
        <p:nvCxnSpPr>
          <p:cNvPr id="3" name="Google Shape;72;p14">
            <a:extLst>
              <a:ext uri="{FF2B5EF4-FFF2-40B4-BE49-F238E27FC236}">
                <a16:creationId xmlns:a16="http://schemas.microsoft.com/office/drawing/2014/main" id="{93BBE080-C550-4FC8-2434-E24268357D2F}"/>
              </a:ext>
            </a:extLst>
          </p:cNvPr>
          <p:cNvCxnSpPr/>
          <p:nvPr/>
        </p:nvCxnSpPr>
        <p:spPr>
          <a:xfrm>
            <a:off x="744865" y="1293030"/>
            <a:ext cx="514000" cy="0"/>
          </a:xfrm>
          <a:prstGeom prst="straightConnector1">
            <a:avLst/>
          </a:prstGeom>
          <a:noFill/>
          <a:ln w="19050" cap="flat" cmpd="sng">
            <a:solidFill>
              <a:srgbClr val="CC132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64662F48-8A09-EA43-C1E4-5855EA93C196}"/>
              </a:ext>
            </a:extLst>
          </p:cNvPr>
          <p:cNvSpPr txBox="1"/>
          <p:nvPr/>
        </p:nvSpPr>
        <p:spPr>
          <a:xfrm>
            <a:off x="744865" y="1957431"/>
            <a:ext cx="11188055" cy="38620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s-ES" sz="1500" dirty="0">
                <a:latin typeface="Avenir Next LT Pro" panose="020B0504020202020204" pitchFamily="34" charset="0"/>
              </a:rPr>
              <a:t>Se proporcionan series de precios reales de:</a:t>
            </a:r>
          </a:p>
          <a:p>
            <a:pPr>
              <a:lnSpc>
                <a:spcPct val="150000"/>
              </a:lnSpc>
              <a:buNone/>
            </a:pPr>
            <a:endParaRPr lang="es-ES" sz="1500" dirty="0">
              <a:latin typeface="Avenir Next LT Pro" panose="020B05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500" b="1" dirty="0">
                <a:latin typeface="Avenir Next LT Pro" panose="020B0504020202020204" pitchFamily="34" charset="0"/>
              </a:rPr>
              <a:t>GGAL T0 y T1.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500" b="1" dirty="0">
                <a:latin typeface="Avenir Next LT Pro" panose="020B0504020202020204" pitchFamily="34" charset="0"/>
              </a:rPr>
              <a:t>CALL y PUT mismo strike de GGAL.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500" b="1" dirty="0">
                <a:latin typeface="Avenir Next LT Pro" panose="020B0504020202020204" pitchFamily="34" charset="0"/>
              </a:rPr>
              <a:t>AL30, AL30D, AL30C, GD30, GD30D y GD30C en T1.</a:t>
            </a:r>
          </a:p>
          <a:p>
            <a:pPr>
              <a:lnSpc>
                <a:spcPct val="150000"/>
              </a:lnSpc>
              <a:buNone/>
            </a:pPr>
            <a:endParaRPr lang="es-ES" sz="1500" dirty="0">
              <a:latin typeface="Avenir Next LT Pro" panose="020B05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s-ES" sz="1500" dirty="0">
                <a:latin typeface="Avenir Next LT Pro" panose="020B0504020202020204" pitchFamily="34" charset="0"/>
              </a:rPr>
              <a:t>Comentarios: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500" dirty="0">
                <a:latin typeface="Avenir Next LT Pro" panose="020B0504020202020204" pitchFamily="34" charset="0"/>
              </a:rPr>
              <a:t>Precios y nominales disponibles hasta la punta 5.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500" dirty="0">
                <a:latin typeface="Avenir Next LT Pro" panose="020B0504020202020204" pitchFamily="34" charset="0"/>
              </a:rPr>
              <a:t>Posible limpieza de </a:t>
            </a:r>
            <a:r>
              <a:rPr lang="es-ES" sz="1500" dirty="0" err="1">
                <a:latin typeface="Avenir Next LT Pro" panose="020B0504020202020204" pitchFamily="34" charset="0"/>
              </a:rPr>
              <a:t>market</a:t>
            </a:r>
            <a:r>
              <a:rPr lang="es-ES" sz="1500" dirty="0">
                <a:latin typeface="Avenir Next LT Pro" panose="020B0504020202020204" pitchFamily="34" charset="0"/>
              </a:rPr>
              <a:t> data necesaria.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500" dirty="0">
                <a:latin typeface="Avenir Next LT Pro" panose="020B0504020202020204" pitchFamily="34" charset="0"/>
              </a:rPr>
              <a:t>Manejo de mayor volumen de datos.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500" b="1" dirty="0">
                <a:solidFill>
                  <a:srgbClr val="FF0000"/>
                </a:solidFill>
                <a:latin typeface="Avenir Next LT Pro" panose="020B0504020202020204" pitchFamily="34" charset="0"/>
              </a:rPr>
              <a:t>Primeros y últimos 5 min de la rueda diaria corresponde a la subasta. Para el análisis obviar esa data</a:t>
            </a:r>
            <a:r>
              <a:rPr lang="es-ES" sz="1500" dirty="0">
                <a:latin typeface="Avenir Next LT Pro" panose="020B05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21462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484E4-EEE2-B88E-87F6-C821444BD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magen que contiene Forma&#10;&#10;Descripción generada automáticamente">
            <a:extLst>
              <a:ext uri="{FF2B5EF4-FFF2-40B4-BE49-F238E27FC236}">
                <a16:creationId xmlns:a16="http://schemas.microsoft.com/office/drawing/2014/main" id="{6BF383CD-AD58-0E61-F38E-E62C49AA2B6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17C55904-6B77-034F-A80D-0D383FAD4BB1}"/>
              </a:ext>
            </a:extLst>
          </p:cNvPr>
          <p:cNvSpPr txBox="1"/>
          <p:nvPr/>
        </p:nvSpPr>
        <p:spPr>
          <a:xfrm>
            <a:off x="622571" y="652550"/>
            <a:ext cx="51751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ES" sz="2800" dirty="0">
              <a:solidFill>
                <a:schemeClr val="tx1">
                  <a:lumMod val="65000"/>
                  <a:lumOff val="35000"/>
                </a:schemeClr>
              </a:solidFill>
              <a:latin typeface="Avenir Next LT Pro Demi" panose="020B0704020202020204" pitchFamily="34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836B66E0-2F09-563A-F08A-EDB34436719C}"/>
              </a:ext>
            </a:extLst>
          </p:cNvPr>
          <p:cNvSpPr txBox="1"/>
          <p:nvPr/>
        </p:nvSpPr>
        <p:spPr>
          <a:xfrm>
            <a:off x="648510" y="649304"/>
            <a:ext cx="86875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venir Next LT Pro Demi" panose="020B0704020202020204" pitchFamily="34" charset="0"/>
              </a:rPr>
              <a:t>Trabajo Practico Final – ¿Qué se pide?</a:t>
            </a:r>
          </a:p>
        </p:txBody>
      </p:sp>
      <p:cxnSp>
        <p:nvCxnSpPr>
          <p:cNvPr id="3" name="Google Shape;72;p14">
            <a:extLst>
              <a:ext uri="{FF2B5EF4-FFF2-40B4-BE49-F238E27FC236}">
                <a16:creationId xmlns:a16="http://schemas.microsoft.com/office/drawing/2014/main" id="{2F8FD033-811C-E86F-E63D-E2890E6D4563}"/>
              </a:ext>
            </a:extLst>
          </p:cNvPr>
          <p:cNvCxnSpPr/>
          <p:nvPr/>
        </p:nvCxnSpPr>
        <p:spPr>
          <a:xfrm>
            <a:off x="744865" y="1293030"/>
            <a:ext cx="514000" cy="0"/>
          </a:xfrm>
          <a:prstGeom prst="straightConnector1">
            <a:avLst/>
          </a:prstGeom>
          <a:noFill/>
          <a:ln w="19050" cap="flat" cmpd="sng">
            <a:solidFill>
              <a:srgbClr val="CC132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4DEE7251-32FA-28E8-7DBE-7B34A037FB55}"/>
              </a:ext>
            </a:extLst>
          </p:cNvPr>
          <p:cNvSpPr txBox="1"/>
          <p:nvPr/>
        </p:nvSpPr>
        <p:spPr>
          <a:xfrm>
            <a:off x="744865" y="2085447"/>
            <a:ext cx="8435711" cy="2477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AR" sz="1500" dirty="0">
                <a:latin typeface="Avenir Next LT Pro" panose="020B0504020202020204" pitchFamily="34" charset="0"/>
              </a:rPr>
              <a:t>Diseñar y aplicar estrategia financiera según opción elegida.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AR" sz="1500" dirty="0">
                <a:latin typeface="Avenir Next LT Pro" panose="020B0504020202020204" pitchFamily="34" charset="0"/>
              </a:rPr>
              <a:t>Simular un capital inicial y medir </a:t>
            </a:r>
            <a:r>
              <a:rPr lang="es-AR" sz="1500" dirty="0" err="1">
                <a:latin typeface="Avenir Next LT Pro" panose="020B0504020202020204" pitchFamily="34" charset="0"/>
              </a:rPr>
              <a:t>PnL</a:t>
            </a:r>
            <a:r>
              <a:rPr lang="es-AR" sz="1500" dirty="0">
                <a:latin typeface="Avenir Next LT Pro" panose="020B0504020202020204" pitchFamily="34" charset="0"/>
              </a:rPr>
              <a:t> final.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lphaUcPeriod"/>
            </a:pPr>
            <a:r>
              <a:rPr lang="es-AR" sz="1500" b="1" dirty="0">
                <a:latin typeface="Avenir Next LT Pro" panose="020B0504020202020204" pitchFamily="34" charset="0"/>
              </a:rPr>
              <a:t>Opción 1: 500.000.000 ARS.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lphaUcPeriod"/>
            </a:pPr>
            <a:r>
              <a:rPr lang="es-AR" sz="1500" b="1" dirty="0">
                <a:latin typeface="Avenir Next LT Pro" panose="020B0504020202020204" pitchFamily="34" charset="0"/>
              </a:rPr>
              <a:t>Opción 2: 50.000.000 ARS.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AR" sz="1500" dirty="0">
                <a:latin typeface="Avenir Next LT Pro" panose="020B0504020202020204" pitchFamily="34" charset="0"/>
              </a:rPr>
              <a:t>Simular operaciones teniendo en cuenta derechos de mercado.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AR" sz="1500" dirty="0">
                <a:latin typeface="Avenir Next LT Pro" panose="020B0504020202020204" pitchFamily="34" charset="0"/>
              </a:rPr>
              <a:t>Tener en cuenta el </a:t>
            </a:r>
            <a:r>
              <a:rPr lang="es-AR" sz="1500" dirty="0" err="1">
                <a:latin typeface="Avenir Next LT Pro" panose="020B0504020202020204" pitchFamily="34" charset="0"/>
              </a:rPr>
              <a:t>tick</a:t>
            </a:r>
            <a:r>
              <a:rPr lang="es-AR" sz="1500" dirty="0">
                <a:latin typeface="Avenir Next LT Pro" panose="020B0504020202020204" pitchFamily="34" charset="0"/>
              </a:rPr>
              <a:t> de los instrumentos.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AR" sz="1500" dirty="0">
                <a:latin typeface="Avenir Next LT Pro" panose="020B0504020202020204" pitchFamily="34" charset="0"/>
              </a:rPr>
              <a:t>Medir latencia.</a:t>
            </a:r>
            <a:endParaRPr lang="es-ES" sz="1500" dirty="0">
              <a:latin typeface="Avenir Next LT Pro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96964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5878A-C761-E16D-EE50-346E6D944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magen que contiene Forma&#10;&#10;Descripción generada automáticamente">
            <a:extLst>
              <a:ext uri="{FF2B5EF4-FFF2-40B4-BE49-F238E27FC236}">
                <a16:creationId xmlns:a16="http://schemas.microsoft.com/office/drawing/2014/main" id="{BE5D96D5-CE59-513A-58A2-BA870AF4DF7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2DDEA899-B3BD-526C-42E3-6CFBE401BCC2}"/>
              </a:ext>
            </a:extLst>
          </p:cNvPr>
          <p:cNvSpPr txBox="1"/>
          <p:nvPr/>
        </p:nvSpPr>
        <p:spPr>
          <a:xfrm>
            <a:off x="622571" y="652550"/>
            <a:ext cx="51751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ES" sz="2800" dirty="0">
              <a:solidFill>
                <a:schemeClr val="tx1">
                  <a:lumMod val="65000"/>
                  <a:lumOff val="35000"/>
                </a:schemeClr>
              </a:solidFill>
              <a:latin typeface="Avenir Next LT Pro Demi" panose="020B0704020202020204" pitchFamily="34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E551241D-998A-5835-6A64-B08AF895AA29}"/>
              </a:ext>
            </a:extLst>
          </p:cNvPr>
          <p:cNvSpPr txBox="1"/>
          <p:nvPr/>
        </p:nvSpPr>
        <p:spPr>
          <a:xfrm>
            <a:off x="648510" y="649304"/>
            <a:ext cx="76725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venir Next LT Pro Demi" panose="020B0704020202020204" pitchFamily="34" charset="0"/>
              </a:rPr>
              <a:t>Trabajo Practico Final – Derechos de mercado</a:t>
            </a:r>
          </a:p>
        </p:txBody>
      </p:sp>
      <p:cxnSp>
        <p:nvCxnSpPr>
          <p:cNvPr id="3" name="Google Shape;72;p14">
            <a:extLst>
              <a:ext uri="{FF2B5EF4-FFF2-40B4-BE49-F238E27FC236}">
                <a16:creationId xmlns:a16="http://schemas.microsoft.com/office/drawing/2014/main" id="{20D733D9-DDE3-D49D-D971-497FD2445262}"/>
              </a:ext>
            </a:extLst>
          </p:cNvPr>
          <p:cNvCxnSpPr/>
          <p:nvPr/>
        </p:nvCxnSpPr>
        <p:spPr>
          <a:xfrm>
            <a:off x="744865" y="1293030"/>
            <a:ext cx="514000" cy="0"/>
          </a:xfrm>
          <a:prstGeom prst="straightConnector1">
            <a:avLst/>
          </a:prstGeom>
          <a:noFill/>
          <a:ln w="19050" cap="flat" cmpd="sng">
            <a:solidFill>
              <a:srgbClr val="CC132C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" name="Imagen 9">
            <a:extLst>
              <a:ext uri="{FF2B5EF4-FFF2-40B4-BE49-F238E27FC236}">
                <a16:creationId xmlns:a16="http://schemas.microsoft.com/office/drawing/2014/main" id="{DD3C2FB7-D1A2-409F-F74F-3AE4AFC190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6301" y="1828320"/>
            <a:ext cx="6849431" cy="2314898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82183591-522E-57C0-3514-F00E7EC176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4773" y="4143218"/>
            <a:ext cx="6849431" cy="1390844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08529337-40F8-EDFD-F192-D4F1C1B28868}"/>
              </a:ext>
            </a:extLst>
          </p:cNvPr>
          <p:cNvSpPr txBox="1"/>
          <p:nvPr/>
        </p:nvSpPr>
        <p:spPr>
          <a:xfrm>
            <a:off x="744865" y="5656960"/>
            <a:ext cx="10822295" cy="702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AR" sz="1400" dirty="0">
                <a:latin typeface="Avenir Next LT Pro" panose="020B0504020202020204" pitchFamily="34" charset="0"/>
                <a:hlinkClick r:id="rId5"/>
              </a:rPr>
              <a:t>https://cdn.prod.website-files.com/6697a441a50c6b926e1972e0/68f280d46994c4a5df006b74_BYMA-Derechos-Mercado-sobre-Operaciones-al-2025-10-16.pdf</a:t>
            </a:r>
            <a:endParaRPr lang="es-AR" sz="1400" dirty="0">
              <a:latin typeface="Avenir Next LT Pro" panose="020B0504020202020204" pitchFamily="34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D904FCE-160C-BD34-7C70-DAD94E7CA5F2}"/>
              </a:ext>
            </a:extLst>
          </p:cNvPr>
          <p:cNvSpPr/>
          <p:nvPr/>
        </p:nvSpPr>
        <p:spPr>
          <a:xfrm>
            <a:off x="3255264" y="3264408"/>
            <a:ext cx="4681728" cy="36179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772C473-5D27-057D-0085-70C2D5B31E10}"/>
              </a:ext>
            </a:extLst>
          </p:cNvPr>
          <p:cNvSpPr/>
          <p:nvPr/>
        </p:nvSpPr>
        <p:spPr>
          <a:xfrm>
            <a:off x="3210128" y="4657745"/>
            <a:ext cx="4681728" cy="36179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681234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2B2AC-66A8-EF2A-FC41-0745B40A1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magen que contiene Forma&#10;&#10;Descripción generada automáticamente">
            <a:extLst>
              <a:ext uri="{FF2B5EF4-FFF2-40B4-BE49-F238E27FC236}">
                <a16:creationId xmlns:a16="http://schemas.microsoft.com/office/drawing/2014/main" id="{131F2D6F-A060-5C54-9ACC-BCD190F040F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E63867CD-2A7B-3A23-6DF0-FC8E35243A29}"/>
              </a:ext>
            </a:extLst>
          </p:cNvPr>
          <p:cNvSpPr txBox="1"/>
          <p:nvPr/>
        </p:nvSpPr>
        <p:spPr>
          <a:xfrm>
            <a:off x="622571" y="652550"/>
            <a:ext cx="51751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ES" sz="2800" dirty="0">
              <a:solidFill>
                <a:schemeClr val="tx1">
                  <a:lumMod val="65000"/>
                  <a:lumOff val="35000"/>
                </a:schemeClr>
              </a:solidFill>
              <a:latin typeface="Avenir Next LT Pro Demi" panose="020B0704020202020204" pitchFamily="34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749D39ED-6796-F560-3556-4EC990ACB49C}"/>
              </a:ext>
            </a:extLst>
          </p:cNvPr>
          <p:cNvSpPr txBox="1"/>
          <p:nvPr/>
        </p:nvSpPr>
        <p:spPr>
          <a:xfrm>
            <a:off x="648510" y="649304"/>
            <a:ext cx="76725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venir Next LT Pro Demi" panose="020B0704020202020204" pitchFamily="34" charset="0"/>
              </a:rPr>
              <a:t>Trabajo Practico Final – </a:t>
            </a:r>
            <a:r>
              <a:rPr lang="es-ES" sz="2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venir Next LT Pro Demi" panose="020B0704020202020204" pitchFamily="34" charset="0"/>
              </a:rPr>
              <a:t>Tick</a:t>
            </a:r>
            <a:endParaRPr lang="es-ES" sz="2800" dirty="0">
              <a:solidFill>
                <a:schemeClr val="tx1">
                  <a:lumMod val="85000"/>
                  <a:lumOff val="15000"/>
                </a:schemeClr>
              </a:solidFill>
              <a:latin typeface="Avenir Next LT Pro Demi" panose="020B0704020202020204" pitchFamily="34" charset="0"/>
            </a:endParaRPr>
          </a:p>
        </p:txBody>
      </p:sp>
      <p:cxnSp>
        <p:nvCxnSpPr>
          <p:cNvPr id="3" name="Google Shape;72;p14">
            <a:extLst>
              <a:ext uri="{FF2B5EF4-FFF2-40B4-BE49-F238E27FC236}">
                <a16:creationId xmlns:a16="http://schemas.microsoft.com/office/drawing/2014/main" id="{AC221362-739A-C282-A280-81008C1BE423}"/>
              </a:ext>
            </a:extLst>
          </p:cNvPr>
          <p:cNvCxnSpPr/>
          <p:nvPr/>
        </p:nvCxnSpPr>
        <p:spPr>
          <a:xfrm>
            <a:off x="744865" y="1293030"/>
            <a:ext cx="514000" cy="0"/>
          </a:xfrm>
          <a:prstGeom prst="straightConnector1">
            <a:avLst/>
          </a:prstGeom>
          <a:noFill/>
          <a:ln w="19050" cap="flat" cmpd="sng">
            <a:solidFill>
              <a:srgbClr val="CC132C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7953974A-B541-B162-80F9-F811FDF28D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9074632"/>
              </p:ext>
            </p:extLst>
          </p:nvPr>
        </p:nvGraphicFramePr>
        <p:xfrm>
          <a:off x="2969905" y="2627480"/>
          <a:ext cx="5351135" cy="2880360"/>
        </p:xfrm>
        <a:graphic>
          <a:graphicData uri="http://schemas.openxmlformats.org/drawingml/2006/table">
            <a:tbl>
              <a:tblPr/>
              <a:tblGrid>
                <a:gridCol w="2575841">
                  <a:extLst>
                    <a:ext uri="{9D8B030D-6E8A-4147-A177-3AD203B41FA5}">
                      <a16:colId xmlns:a16="http://schemas.microsoft.com/office/drawing/2014/main" val="2152094892"/>
                    </a:ext>
                  </a:extLst>
                </a:gridCol>
                <a:gridCol w="2775294">
                  <a:extLst>
                    <a:ext uri="{9D8B030D-6E8A-4147-A177-3AD203B41FA5}">
                      <a16:colId xmlns:a16="http://schemas.microsoft.com/office/drawing/2014/main" val="41358041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AR" sz="1500" b="1" dirty="0">
                          <a:latin typeface="Avenir Next LT Pro" panose="020B0504020202020204" pitchFamily="34" charset="0"/>
                        </a:rPr>
                        <a:t>Intervalo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AR" sz="1500" b="1" dirty="0" err="1">
                          <a:latin typeface="Avenir Next LT Pro" panose="020B0504020202020204" pitchFamily="34" charset="0"/>
                        </a:rPr>
                        <a:t>Tick</a:t>
                      </a:r>
                      <a:endParaRPr lang="es-AR" sz="1500" b="1" dirty="0">
                        <a:latin typeface="Avenir Next LT Pro" panose="020B05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40336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AR" sz="1500" b="0" dirty="0">
                          <a:latin typeface="Avenir Next LT Pro" panose="020B0504020202020204" pitchFamily="34" charset="0"/>
                        </a:rPr>
                        <a:t>0 &lt;= x &lt; 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500" dirty="0">
                          <a:latin typeface="Avenir Next LT Pro" panose="020B0504020202020204" pitchFamily="34" charset="0"/>
                        </a:rPr>
                        <a:t>0,001</a:t>
                      </a:r>
                      <a:endParaRPr lang="es-AR" sz="1500" dirty="0">
                        <a:latin typeface="Avenir Next LT Pro" panose="020B05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27760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AR" sz="1500" b="0" dirty="0">
                          <a:latin typeface="Avenir Next LT Pro" panose="020B0504020202020204" pitchFamily="34" charset="0"/>
                        </a:rPr>
                        <a:t>50 &lt;= x &lt; 100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500" dirty="0">
                          <a:latin typeface="Avenir Next LT Pro" panose="020B0504020202020204" pitchFamily="34" charset="0"/>
                        </a:rPr>
                        <a:t>0,01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7692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500" b="0" dirty="0">
                          <a:latin typeface="Avenir Next LT Pro" panose="020B0504020202020204" pitchFamily="34" charset="0"/>
                        </a:rPr>
                        <a:t>100 &lt;= x &lt; 500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500" dirty="0">
                          <a:latin typeface="Avenir Next LT Pro" panose="020B0504020202020204" pitchFamily="34" charset="0"/>
                        </a:rPr>
                        <a:t>0,05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25423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500" b="0" dirty="0">
                          <a:latin typeface="Avenir Next LT Pro" panose="020B0504020202020204" pitchFamily="34" charset="0"/>
                        </a:rPr>
                        <a:t>500 &lt;= x &lt; 1000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500" dirty="0">
                          <a:latin typeface="Avenir Next LT Pro" panose="020B0504020202020204" pitchFamily="34" charset="0"/>
                        </a:rPr>
                        <a:t>0,1</a:t>
                      </a:r>
                      <a:endParaRPr lang="es-AR" sz="1500" dirty="0">
                        <a:latin typeface="Avenir Next LT Pro" panose="020B05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78299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500" b="0" dirty="0">
                          <a:latin typeface="Avenir Next LT Pro" panose="020B0504020202020204" pitchFamily="34" charset="0"/>
                        </a:rPr>
                        <a:t>1000 &lt;= x &lt; 5000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500" dirty="0">
                          <a:latin typeface="Avenir Next LT Pro" panose="020B0504020202020204" pitchFamily="34" charset="0"/>
                        </a:rPr>
                        <a:t>0,5</a:t>
                      </a:r>
                      <a:endParaRPr lang="es-AR" sz="1500" dirty="0">
                        <a:latin typeface="Avenir Next LT Pro" panose="020B05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08573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500" b="0" dirty="0">
                          <a:latin typeface="Avenir Next LT Pro" panose="020B0504020202020204" pitchFamily="34" charset="0"/>
                        </a:rPr>
                        <a:t>5000 &lt;= x &lt; 10000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500" dirty="0">
                          <a:latin typeface="Avenir Next LT Pro" panose="020B0504020202020204" pitchFamily="34" charset="0"/>
                        </a:rPr>
                        <a:t>1</a:t>
                      </a:r>
                      <a:endParaRPr lang="es-AR" sz="1500" dirty="0">
                        <a:latin typeface="Avenir Next LT Pro" panose="020B05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02574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500" b="0" dirty="0">
                          <a:latin typeface="Avenir Next LT Pro" panose="020B0504020202020204" pitchFamily="34" charset="0"/>
                        </a:rPr>
                        <a:t>10000 &lt;= x &lt; 50000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500" dirty="0">
                          <a:latin typeface="Avenir Next LT Pro" panose="020B0504020202020204" pitchFamily="34" charset="0"/>
                        </a:rPr>
                        <a:t>5</a:t>
                      </a:r>
                      <a:endParaRPr lang="es-AR" sz="1500" dirty="0">
                        <a:latin typeface="Avenir Next LT Pro" panose="020B05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84985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500" b="0" dirty="0">
                          <a:latin typeface="Avenir Next LT Pro" panose="020B0504020202020204" pitchFamily="34" charset="0"/>
                        </a:rPr>
                        <a:t>50000 &lt;= x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500" dirty="0">
                          <a:latin typeface="Avenir Next LT Pro" panose="020B0504020202020204" pitchFamily="34" charset="0"/>
                        </a:rPr>
                        <a:t>10</a:t>
                      </a:r>
                      <a:endParaRPr lang="es-AR" sz="1500" dirty="0">
                        <a:latin typeface="Avenir Next LT Pro" panose="020B05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4053539"/>
                  </a:ext>
                </a:extLst>
              </a:tr>
            </a:tbl>
          </a:graphicData>
        </a:graphic>
      </p:graphicFrame>
      <p:sp>
        <p:nvSpPr>
          <p:cNvPr id="8" name="CuadroTexto 7">
            <a:extLst>
              <a:ext uri="{FF2B5EF4-FFF2-40B4-BE49-F238E27FC236}">
                <a16:creationId xmlns:a16="http://schemas.microsoft.com/office/drawing/2014/main" id="{D87EF494-650D-4DB8-50B3-1542FE330594}"/>
              </a:ext>
            </a:extLst>
          </p:cNvPr>
          <p:cNvSpPr txBox="1"/>
          <p:nvPr/>
        </p:nvSpPr>
        <p:spPr>
          <a:xfrm>
            <a:off x="648510" y="1783445"/>
            <a:ext cx="611276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500" dirty="0">
                <a:latin typeface="Avenir Next LT Pro" panose="020B0504020202020204" pitchFamily="34" charset="0"/>
              </a:rPr>
              <a:t>Variación mínima según intervalo de precio.</a:t>
            </a:r>
            <a:endParaRPr lang="es-AR" sz="1500" dirty="0">
              <a:latin typeface="Avenir Next LT Pro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02924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89A80-D88D-1687-0142-C836180FB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magen que contiene Forma&#10;&#10;Descripción generada automáticamente">
            <a:extLst>
              <a:ext uri="{FF2B5EF4-FFF2-40B4-BE49-F238E27FC236}">
                <a16:creationId xmlns:a16="http://schemas.microsoft.com/office/drawing/2014/main" id="{38EBA1E3-89F2-59E9-5D39-62734FA161F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AF81406B-0B42-8BD5-7573-F48D86BB99D1}"/>
              </a:ext>
            </a:extLst>
          </p:cNvPr>
          <p:cNvSpPr txBox="1"/>
          <p:nvPr/>
        </p:nvSpPr>
        <p:spPr>
          <a:xfrm>
            <a:off x="622571" y="652550"/>
            <a:ext cx="51751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ES" sz="2800" dirty="0">
              <a:solidFill>
                <a:schemeClr val="tx1">
                  <a:lumMod val="65000"/>
                  <a:lumOff val="35000"/>
                </a:schemeClr>
              </a:solidFill>
              <a:latin typeface="Avenir Next LT Pro Demi" panose="020B0704020202020204" pitchFamily="34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3E424F1-C5DB-EFE5-BBEA-7B161908A5AE}"/>
              </a:ext>
            </a:extLst>
          </p:cNvPr>
          <p:cNvSpPr txBox="1"/>
          <p:nvPr/>
        </p:nvSpPr>
        <p:spPr>
          <a:xfrm>
            <a:off x="648510" y="649304"/>
            <a:ext cx="55602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venir Next LT Pro Demi" panose="020B0704020202020204" pitchFamily="34" charset="0"/>
              </a:rPr>
              <a:t>Trabajo Practico Final – Opción 1</a:t>
            </a:r>
          </a:p>
        </p:txBody>
      </p:sp>
      <p:cxnSp>
        <p:nvCxnSpPr>
          <p:cNvPr id="3" name="Google Shape;72;p14">
            <a:extLst>
              <a:ext uri="{FF2B5EF4-FFF2-40B4-BE49-F238E27FC236}">
                <a16:creationId xmlns:a16="http://schemas.microsoft.com/office/drawing/2014/main" id="{FAE7367D-F2A3-1487-E224-C3C2C8DD2851}"/>
              </a:ext>
            </a:extLst>
          </p:cNvPr>
          <p:cNvCxnSpPr/>
          <p:nvPr/>
        </p:nvCxnSpPr>
        <p:spPr>
          <a:xfrm>
            <a:off x="744865" y="1293030"/>
            <a:ext cx="514000" cy="0"/>
          </a:xfrm>
          <a:prstGeom prst="straightConnector1">
            <a:avLst/>
          </a:prstGeom>
          <a:noFill/>
          <a:ln w="19050" cap="flat" cmpd="sng">
            <a:solidFill>
              <a:srgbClr val="CC132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2F387574-DF48-74F1-1382-A9C5FFF65A70}"/>
              </a:ext>
            </a:extLst>
          </p:cNvPr>
          <p:cNvSpPr txBox="1"/>
          <p:nvPr/>
        </p:nvSpPr>
        <p:spPr>
          <a:xfrm>
            <a:off x="744865" y="1902567"/>
            <a:ext cx="9770735" cy="38620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s-ES" sz="1500" dirty="0">
                <a:solidFill>
                  <a:srgbClr val="0D0D0D"/>
                </a:solidFill>
                <a:latin typeface="Avenir Next LT Pro" panose="020B0504020202020204" pitchFamily="34" charset="0"/>
              </a:rPr>
              <a:t>Desarrollar un algoritmo que implemente una estrategia de arbitraje potenciado con ML.</a:t>
            </a:r>
          </a:p>
          <a:p>
            <a:pPr>
              <a:lnSpc>
                <a:spcPct val="150000"/>
              </a:lnSpc>
              <a:buNone/>
            </a:pPr>
            <a:endParaRPr lang="es-ES" sz="1500" dirty="0">
              <a:solidFill>
                <a:srgbClr val="0D0D0D"/>
              </a:solidFill>
              <a:latin typeface="Avenir Next LT Pro" panose="020B05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500" dirty="0">
                <a:solidFill>
                  <a:srgbClr val="0D0D0D"/>
                </a:solidFill>
                <a:latin typeface="Avenir Next LT Pro" panose="020B0504020202020204" pitchFamily="34" charset="0"/>
              </a:rPr>
              <a:t>Arbitrar </a:t>
            </a:r>
            <a:r>
              <a:rPr lang="es-ES" sz="1500" b="1" dirty="0">
                <a:solidFill>
                  <a:srgbClr val="0D0D0D"/>
                </a:solidFill>
                <a:latin typeface="Avenir Next LT Pro" panose="020B0504020202020204" pitchFamily="34" charset="0"/>
              </a:rPr>
              <a:t>MEP, CCL y Canje </a:t>
            </a:r>
            <a:r>
              <a:rPr lang="es-ES" sz="1500" dirty="0">
                <a:solidFill>
                  <a:srgbClr val="0D0D0D"/>
                </a:solidFill>
                <a:latin typeface="Avenir Next LT Pro" panose="020B0504020202020204" pitchFamily="34" charset="0"/>
              </a:rPr>
              <a:t>utilizando la data proporcionada.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500" dirty="0">
                <a:solidFill>
                  <a:srgbClr val="0D0D0D"/>
                </a:solidFill>
                <a:latin typeface="Avenir Next LT Pro" panose="020B0504020202020204" pitchFamily="34" charset="0"/>
              </a:rPr>
              <a:t>Anticipar al siguiente movimiento implementando alguna herramienta de ML a elección. Sugerencia usar OFI, OBI y </a:t>
            </a:r>
            <a:r>
              <a:rPr lang="es-ES" sz="1500" dirty="0" err="1">
                <a:solidFill>
                  <a:srgbClr val="0D0D0D"/>
                </a:solidFill>
                <a:latin typeface="Avenir Next LT Pro" panose="020B0504020202020204" pitchFamily="34" charset="0"/>
              </a:rPr>
              <a:t>Microprice</a:t>
            </a:r>
            <a:r>
              <a:rPr lang="es-ES" sz="1500" dirty="0">
                <a:solidFill>
                  <a:srgbClr val="0D0D0D"/>
                </a:solidFill>
                <a:latin typeface="Avenir Next LT Pro" panose="020B0504020202020204" pitchFamily="34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s-ES" sz="1500" dirty="0">
              <a:solidFill>
                <a:srgbClr val="0D0D0D"/>
              </a:solidFill>
              <a:latin typeface="Avenir Next LT Pro" panose="020B05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s-ES" sz="1500" dirty="0">
                <a:solidFill>
                  <a:srgbClr val="0D0D0D"/>
                </a:solidFill>
                <a:latin typeface="Avenir Next LT Pro" panose="020B0504020202020204" pitchFamily="34" charset="0"/>
              </a:rPr>
              <a:t>Comentarios: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500" b="1" dirty="0">
                <a:solidFill>
                  <a:srgbClr val="FF0000"/>
                </a:solidFill>
                <a:latin typeface="Avenir Next LT Pro" panose="020B0504020202020204" pitchFamily="34" charset="0"/>
              </a:rPr>
              <a:t>NO poner foco en el mejor modelo de ML sino en la estrategia de arbitraje.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500" dirty="0">
                <a:solidFill>
                  <a:srgbClr val="0D0D0D"/>
                </a:solidFill>
                <a:latin typeface="Avenir Next LT Pro" panose="020B0504020202020204" pitchFamily="34" charset="0"/>
              </a:rPr>
              <a:t>Establecer Stop </a:t>
            </a:r>
            <a:r>
              <a:rPr lang="es-ES" sz="1500" dirty="0" err="1">
                <a:solidFill>
                  <a:srgbClr val="0D0D0D"/>
                </a:solidFill>
                <a:latin typeface="Avenir Next LT Pro" panose="020B0504020202020204" pitchFamily="34" charset="0"/>
              </a:rPr>
              <a:t>Loss</a:t>
            </a:r>
            <a:r>
              <a:rPr lang="es-ES" sz="1500" dirty="0">
                <a:solidFill>
                  <a:srgbClr val="0D0D0D"/>
                </a:solidFill>
                <a:latin typeface="Avenir Next LT Pro" panose="020B0504020202020204" pitchFamily="34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500" dirty="0">
                <a:solidFill>
                  <a:srgbClr val="0D0D0D"/>
                </a:solidFill>
                <a:latin typeface="Avenir Next LT Pro" panose="020B0504020202020204" pitchFamily="34" charset="0"/>
              </a:rPr>
              <a:t>Manejar balance de monedas e inventarios.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500" dirty="0">
                <a:solidFill>
                  <a:srgbClr val="0D0D0D"/>
                </a:solidFill>
                <a:latin typeface="Avenir Next LT Pro" panose="020B0504020202020204" pitchFamily="34" charset="0"/>
              </a:rPr>
              <a:t>Al fin del día (fin de la </a:t>
            </a:r>
            <a:r>
              <a:rPr lang="es-ES" sz="1500" dirty="0" err="1">
                <a:solidFill>
                  <a:srgbClr val="0D0D0D"/>
                </a:solidFill>
                <a:latin typeface="Avenir Next LT Pro" panose="020B0504020202020204" pitchFamily="34" charset="0"/>
              </a:rPr>
              <a:t>market</a:t>
            </a:r>
            <a:r>
              <a:rPr lang="es-ES" sz="1500" dirty="0">
                <a:solidFill>
                  <a:srgbClr val="0D0D0D"/>
                </a:solidFill>
                <a:latin typeface="Avenir Next LT Pro" panose="020B0504020202020204" pitchFamily="34" charset="0"/>
              </a:rPr>
              <a:t> data). Presentar </a:t>
            </a:r>
            <a:r>
              <a:rPr lang="es-ES" sz="1500" dirty="0" err="1">
                <a:solidFill>
                  <a:srgbClr val="0D0D0D"/>
                </a:solidFill>
                <a:latin typeface="Avenir Next LT Pro" panose="020B0504020202020204" pitchFamily="34" charset="0"/>
              </a:rPr>
              <a:t>PnL</a:t>
            </a:r>
            <a:r>
              <a:rPr lang="es-ES" sz="1500" dirty="0">
                <a:solidFill>
                  <a:srgbClr val="0D0D0D"/>
                </a:solidFill>
                <a:latin typeface="Avenir Next LT Pro" panose="020B0504020202020204" pitchFamily="34" charset="0"/>
              </a:rPr>
              <a:t> en las monedas resultantes, no hace falta convertir.</a:t>
            </a:r>
          </a:p>
        </p:txBody>
      </p:sp>
    </p:spTree>
    <p:extLst>
      <p:ext uri="{BB962C8B-B14F-4D97-AF65-F5344CB8AC3E}">
        <p14:creationId xmlns:p14="http://schemas.microsoft.com/office/powerpoint/2010/main" val="13325714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ECFC6-9EB1-26B1-9DCE-6AE1555DC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magen que contiene Forma&#10;&#10;Descripción generada automáticamente">
            <a:extLst>
              <a:ext uri="{FF2B5EF4-FFF2-40B4-BE49-F238E27FC236}">
                <a16:creationId xmlns:a16="http://schemas.microsoft.com/office/drawing/2014/main" id="{7AB61B5C-6E73-6DFF-4A8D-1CA986963AD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070D0DD5-7F51-C9BD-D2EA-64302CE03407}"/>
              </a:ext>
            </a:extLst>
          </p:cNvPr>
          <p:cNvSpPr txBox="1"/>
          <p:nvPr/>
        </p:nvSpPr>
        <p:spPr>
          <a:xfrm>
            <a:off x="622571" y="652550"/>
            <a:ext cx="51751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ES" sz="2800" dirty="0">
              <a:solidFill>
                <a:schemeClr val="tx1">
                  <a:lumMod val="65000"/>
                  <a:lumOff val="35000"/>
                </a:schemeClr>
              </a:solidFill>
              <a:latin typeface="Avenir Next LT Pro Demi" panose="020B0704020202020204" pitchFamily="34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D880D14F-630C-CAE5-8D95-0C2A30397804}"/>
              </a:ext>
            </a:extLst>
          </p:cNvPr>
          <p:cNvSpPr txBox="1"/>
          <p:nvPr/>
        </p:nvSpPr>
        <p:spPr>
          <a:xfrm>
            <a:off x="648510" y="649304"/>
            <a:ext cx="55602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venir Next LT Pro Demi" panose="020B0704020202020204" pitchFamily="34" charset="0"/>
              </a:rPr>
              <a:t>Trabajo Practico Final – Opción 2</a:t>
            </a:r>
          </a:p>
        </p:txBody>
      </p:sp>
      <p:cxnSp>
        <p:nvCxnSpPr>
          <p:cNvPr id="3" name="Google Shape;72;p14">
            <a:extLst>
              <a:ext uri="{FF2B5EF4-FFF2-40B4-BE49-F238E27FC236}">
                <a16:creationId xmlns:a16="http://schemas.microsoft.com/office/drawing/2014/main" id="{84B1FE9E-03DF-60EC-869D-A218A56B4913}"/>
              </a:ext>
            </a:extLst>
          </p:cNvPr>
          <p:cNvCxnSpPr/>
          <p:nvPr/>
        </p:nvCxnSpPr>
        <p:spPr>
          <a:xfrm>
            <a:off x="744865" y="1293030"/>
            <a:ext cx="514000" cy="0"/>
          </a:xfrm>
          <a:prstGeom prst="straightConnector1">
            <a:avLst/>
          </a:prstGeom>
          <a:noFill/>
          <a:ln w="19050" cap="flat" cmpd="sng">
            <a:solidFill>
              <a:srgbClr val="CC132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81F3C907-C4A1-EBA0-3343-DEE4F471954D}"/>
              </a:ext>
            </a:extLst>
          </p:cNvPr>
          <p:cNvSpPr txBox="1"/>
          <p:nvPr/>
        </p:nvSpPr>
        <p:spPr>
          <a:xfrm>
            <a:off x="744865" y="1902567"/>
            <a:ext cx="9203807" cy="38620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ES" sz="1500" dirty="0">
                <a:solidFill>
                  <a:srgbClr val="0D0D0D"/>
                </a:solidFill>
                <a:latin typeface="Avenir Next LT Pro" panose="020B0504020202020204" pitchFamily="34" charset="0"/>
              </a:rPr>
              <a:t>Desarrollar un algoritmo que implemente la estrategia </a:t>
            </a:r>
            <a:r>
              <a:rPr lang="es-AR" sz="1500" b="1" dirty="0">
                <a:solidFill>
                  <a:srgbClr val="0D0D0D"/>
                </a:solidFill>
                <a:latin typeface="Avenir Next LT Pro" panose="020B0504020202020204" pitchFamily="34" charset="0"/>
              </a:rPr>
              <a:t>Gamma </a:t>
            </a:r>
            <a:r>
              <a:rPr lang="es-AR" sz="1500" b="1" dirty="0" err="1">
                <a:solidFill>
                  <a:srgbClr val="0D0D0D"/>
                </a:solidFill>
                <a:latin typeface="Avenir Next LT Pro" panose="020B0504020202020204" pitchFamily="34" charset="0"/>
              </a:rPr>
              <a:t>Scalping</a:t>
            </a:r>
            <a:r>
              <a:rPr lang="es-AR" sz="1500" b="1" dirty="0">
                <a:solidFill>
                  <a:srgbClr val="0D0D0D"/>
                </a:solidFill>
                <a:latin typeface="Avenir Next LT Pro" panose="020B0504020202020204" pitchFamily="34" charset="0"/>
              </a:rPr>
              <a:t> con Delta-Neutral</a:t>
            </a:r>
            <a:endParaRPr lang="es-ES" sz="1500" b="1" dirty="0">
              <a:solidFill>
                <a:srgbClr val="0D0D0D"/>
              </a:solidFill>
              <a:latin typeface="Avenir Next LT Pro" panose="020B05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s-ES" sz="1500" dirty="0">
                <a:solidFill>
                  <a:srgbClr val="0D0D0D"/>
                </a:solidFill>
                <a:latin typeface="Avenir Next LT Pro" panose="020B0504020202020204" pitchFamily="34" charset="0"/>
              </a:rPr>
              <a:t>utilizando la data proporcionada.</a:t>
            </a:r>
          </a:p>
          <a:p>
            <a:pPr>
              <a:lnSpc>
                <a:spcPct val="150000"/>
              </a:lnSpc>
              <a:buNone/>
            </a:pPr>
            <a:endParaRPr lang="es-ES" sz="1500" dirty="0">
              <a:solidFill>
                <a:srgbClr val="0D0D0D"/>
              </a:solidFill>
              <a:latin typeface="Avenir Next LT Pro" panose="020B05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500" dirty="0">
                <a:solidFill>
                  <a:srgbClr val="0D0D0D"/>
                </a:solidFill>
                <a:latin typeface="Avenir Next LT Pro" panose="020B0504020202020204" pitchFamily="34" charset="0"/>
              </a:rPr>
              <a:t>Armar posición </a:t>
            </a:r>
            <a:r>
              <a:rPr lang="es-ES" sz="1500" dirty="0" err="1">
                <a:solidFill>
                  <a:srgbClr val="0D0D0D"/>
                </a:solidFill>
                <a:latin typeface="Avenir Next LT Pro" panose="020B0504020202020204" pitchFamily="34" charset="0"/>
              </a:rPr>
              <a:t>long</a:t>
            </a:r>
            <a:r>
              <a:rPr lang="es-ES" sz="1500" dirty="0">
                <a:solidFill>
                  <a:srgbClr val="0D0D0D"/>
                </a:solidFill>
                <a:latin typeface="Avenir Next LT Pro" panose="020B0504020202020204" pitchFamily="34" charset="0"/>
              </a:rPr>
              <a:t> o short </a:t>
            </a:r>
            <a:r>
              <a:rPr lang="es-ES" sz="1500" dirty="0" err="1">
                <a:solidFill>
                  <a:srgbClr val="0D0D0D"/>
                </a:solidFill>
                <a:latin typeface="Avenir Next LT Pro" panose="020B0504020202020204" pitchFamily="34" charset="0"/>
              </a:rPr>
              <a:t>volatility</a:t>
            </a:r>
            <a:r>
              <a:rPr lang="es-ES" sz="1500" dirty="0">
                <a:solidFill>
                  <a:srgbClr val="0D0D0D"/>
                </a:solidFill>
                <a:latin typeface="Avenir Next LT Pro" panose="020B0504020202020204" pitchFamily="34" charset="0"/>
              </a:rPr>
              <a:t> según corresponda.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500" dirty="0">
                <a:solidFill>
                  <a:srgbClr val="0D0D0D"/>
                </a:solidFill>
                <a:latin typeface="Avenir Next LT Pro" panose="020B0504020202020204" pitchFamily="34" charset="0"/>
              </a:rPr>
              <a:t>Implementar delta neutral dinámico para solo tener exposición a la volatilidad.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s-ES" sz="1500" dirty="0">
              <a:solidFill>
                <a:srgbClr val="0D0D0D"/>
              </a:solidFill>
              <a:latin typeface="Avenir Next LT Pro" panose="020B05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s-ES" sz="1500" dirty="0">
                <a:solidFill>
                  <a:srgbClr val="0D0D0D"/>
                </a:solidFill>
                <a:latin typeface="Avenir Next LT Pro" panose="020B0504020202020204" pitchFamily="34" charset="0"/>
              </a:rPr>
              <a:t>Comentarios: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500" dirty="0">
                <a:solidFill>
                  <a:srgbClr val="0D0D0D"/>
                </a:solidFill>
                <a:latin typeface="Avenir Next LT Pro" panose="020B0504020202020204" pitchFamily="34" charset="0"/>
              </a:rPr>
              <a:t>Establecer criterio de </a:t>
            </a:r>
            <a:r>
              <a:rPr lang="es-ES" sz="1500" dirty="0" err="1">
                <a:solidFill>
                  <a:srgbClr val="0D0D0D"/>
                </a:solidFill>
                <a:latin typeface="Avenir Next LT Pro" panose="020B0504020202020204" pitchFamily="34" charset="0"/>
              </a:rPr>
              <a:t>hedge</a:t>
            </a:r>
            <a:r>
              <a:rPr lang="es-ES" sz="1500" dirty="0">
                <a:solidFill>
                  <a:srgbClr val="0D0D0D"/>
                </a:solidFill>
                <a:latin typeface="Avenir Next LT Pro" panose="020B0504020202020204" pitchFamily="34" charset="0"/>
              </a:rPr>
              <a:t> optimo según: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lphaUcPeriod"/>
            </a:pPr>
            <a:r>
              <a:rPr lang="es-ES" sz="1500" dirty="0">
                <a:solidFill>
                  <a:srgbClr val="0D0D0D"/>
                </a:solidFill>
                <a:latin typeface="Avenir Next LT Pro" panose="020B0504020202020204" pitchFamily="34" charset="0"/>
              </a:rPr>
              <a:t>Frecuencia debido a los costos.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lphaUcPeriod"/>
            </a:pPr>
            <a:r>
              <a:rPr lang="es-ES" sz="1500" dirty="0">
                <a:solidFill>
                  <a:srgbClr val="0D0D0D"/>
                </a:solidFill>
                <a:latin typeface="Avenir Next LT Pro" panose="020B0504020202020204" pitchFamily="34" charset="0"/>
              </a:rPr>
              <a:t>Total, o parcial según nominales disponibles.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500" dirty="0">
                <a:solidFill>
                  <a:srgbClr val="0D0D0D"/>
                </a:solidFill>
                <a:latin typeface="Avenir Next LT Pro" panose="020B0504020202020204" pitchFamily="34" charset="0"/>
              </a:rPr>
              <a:t>Establecer Stop </a:t>
            </a:r>
            <a:r>
              <a:rPr lang="es-ES" sz="1500" dirty="0" err="1">
                <a:solidFill>
                  <a:srgbClr val="0D0D0D"/>
                </a:solidFill>
                <a:latin typeface="Avenir Next LT Pro" panose="020B0504020202020204" pitchFamily="34" charset="0"/>
              </a:rPr>
              <a:t>Loss</a:t>
            </a:r>
            <a:r>
              <a:rPr lang="es-ES" sz="1500" dirty="0">
                <a:solidFill>
                  <a:srgbClr val="0D0D0D"/>
                </a:solidFill>
                <a:latin typeface="Avenir Next LT Pro" panose="020B05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029795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03452-F7AD-183B-B231-4765E166A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magen que contiene Forma&#10;&#10;Descripción generada automáticamente">
            <a:extLst>
              <a:ext uri="{FF2B5EF4-FFF2-40B4-BE49-F238E27FC236}">
                <a16:creationId xmlns:a16="http://schemas.microsoft.com/office/drawing/2014/main" id="{0A1C1867-E61F-8D06-6FA4-E80919C56F7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CF297806-E875-4C65-7642-FB877AF1ADBC}"/>
              </a:ext>
            </a:extLst>
          </p:cNvPr>
          <p:cNvSpPr txBox="1"/>
          <p:nvPr/>
        </p:nvSpPr>
        <p:spPr>
          <a:xfrm>
            <a:off x="622571" y="652550"/>
            <a:ext cx="51751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ES" sz="2800" dirty="0">
              <a:solidFill>
                <a:schemeClr val="tx1">
                  <a:lumMod val="65000"/>
                  <a:lumOff val="35000"/>
                </a:schemeClr>
              </a:solidFill>
              <a:latin typeface="Avenir Next LT Pro Demi" panose="020B0704020202020204" pitchFamily="34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8DD04EDC-5F96-47EC-6CAE-55FBF86621CB}"/>
              </a:ext>
            </a:extLst>
          </p:cNvPr>
          <p:cNvSpPr txBox="1"/>
          <p:nvPr/>
        </p:nvSpPr>
        <p:spPr>
          <a:xfrm>
            <a:off x="648510" y="649304"/>
            <a:ext cx="65386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venir Next LT Pro Demi" panose="020B0704020202020204" pitchFamily="34" charset="0"/>
              </a:rPr>
              <a:t>Trabajo Practico Final – </a:t>
            </a:r>
            <a:r>
              <a:rPr lang="es-ES" sz="2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venir Next LT Pro Demi" panose="020B0704020202020204" pitchFamily="34" charset="0"/>
              </a:rPr>
              <a:t>Market</a:t>
            </a:r>
            <a:r>
              <a:rPr lang="es-E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venir Next LT Pro Demi" panose="020B0704020202020204" pitchFamily="34" charset="0"/>
              </a:rPr>
              <a:t> Data</a:t>
            </a:r>
          </a:p>
        </p:txBody>
      </p:sp>
      <p:cxnSp>
        <p:nvCxnSpPr>
          <p:cNvPr id="3" name="Google Shape;72;p14">
            <a:extLst>
              <a:ext uri="{FF2B5EF4-FFF2-40B4-BE49-F238E27FC236}">
                <a16:creationId xmlns:a16="http://schemas.microsoft.com/office/drawing/2014/main" id="{0046CB90-9036-0AEB-C691-C5162D63DE0D}"/>
              </a:ext>
            </a:extLst>
          </p:cNvPr>
          <p:cNvCxnSpPr/>
          <p:nvPr/>
        </p:nvCxnSpPr>
        <p:spPr>
          <a:xfrm>
            <a:off x="744865" y="1293030"/>
            <a:ext cx="514000" cy="0"/>
          </a:xfrm>
          <a:prstGeom prst="straightConnector1">
            <a:avLst/>
          </a:prstGeom>
          <a:noFill/>
          <a:ln w="19050" cap="flat" cmpd="sng">
            <a:solidFill>
              <a:srgbClr val="CC132C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" name="Imagen 7">
            <a:extLst>
              <a:ext uri="{FF2B5EF4-FFF2-40B4-BE49-F238E27FC236}">
                <a16:creationId xmlns:a16="http://schemas.microsoft.com/office/drawing/2014/main" id="{281F41A2-907A-76EA-4BF8-684F96D6C6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264" y="1541639"/>
            <a:ext cx="11561064" cy="49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1046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14434</TotalTime>
  <Words>548</Words>
  <Application>Microsoft Office PowerPoint</Application>
  <PresentationFormat>Panorámica</PresentationFormat>
  <Paragraphs>93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8" baseType="lpstr">
      <vt:lpstr>Arial</vt:lpstr>
      <vt:lpstr>Avenir Next LT Pro</vt:lpstr>
      <vt:lpstr>Avenir Next LT Pro Demi</vt:lpstr>
      <vt:lpstr>Calibri</vt:lpstr>
      <vt:lpstr>Symbol</vt:lpstr>
      <vt:lpstr>Times New Roman</vt:lpstr>
      <vt:lpstr>Wingdings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SCHIFANI GUIDO</dc:creator>
  <dc:description/>
  <cp:lastModifiedBy>Matias Febles</cp:lastModifiedBy>
  <cp:revision>462</cp:revision>
  <dcterms:created xsi:type="dcterms:W3CDTF">2023-12-05T22:09:16Z</dcterms:created>
  <dcterms:modified xsi:type="dcterms:W3CDTF">2025-11-28T01:45:08Z</dcterms:modified>
  <dc:language>es-AR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Panorámica</vt:lpwstr>
  </property>
  <property fmtid="{D5CDD505-2E9C-101B-9397-08002B2CF9AE}" pid="4" name="Slides">
    <vt:i4>7</vt:i4>
  </property>
</Properties>
</file>